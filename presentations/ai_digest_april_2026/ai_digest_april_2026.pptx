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E293B"/>
                </a:solidFill>
              </a:rPr>
              <a:t>AI Digest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What's happening in the world of Artificial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1036" y="3520440"/>
            <a:ext cx="1417320" cy="29260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1036" y="35478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Anthropic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5516" y="3520440"/>
            <a:ext cx="1417320" cy="29260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5516" y="35478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OpenAI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9996" y="3520440"/>
            <a:ext cx="1417320" cy="29260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996" y="35478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Meta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3520440"/>
            <a:ext cx="1417320" cy="29260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4476" y="35478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48956" y="3520440"/>
            <a:ext cx="1417320" cy="29260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8956" y="35478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Mathematics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3436" y="3520440"/>
            <a:ext cx="1417320" cy="29260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436" y="35478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🔮  Anthropic Opus 4.7 — what the release notes hid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🧮  GPT-5.4 solves the Erdős problem in 80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774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🔣  A single operator for all of mathematics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632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🎙️  Google Gemini TTS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058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15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🔒  Project Glasswing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01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🦋  Meta Muse Spark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3774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871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🚨  The Mythos escape incident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632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729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⚡  Musk's 10-trillion parameter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49040"/>
            <a:ext cx="5577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🧬  OpenAI GPT-Rosalind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ANTHROPIC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Opus 4.7: Reading Between the Release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3108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1">
                <a:solidFill>
                  <a:srgbClr val="1E293B"/>
                </a:solidFill>
              </a:rPr>
              <a:t>New tokenizer</a:t>
            </a:r>
            <a:r>
              <a:rPr sz="1100" b="0">
                <a:solidFill>
                  <a:srgbClr val="1E293B"/>
                </a:solidFill>
              </a:rPr>
              <a:t> — 1.0–1.35× more tokens per identical input. Code and non-English text are hit hardest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1">
                <a:solidFill>
                  <a:srgbClr val="1E293B"/>
                </a:solidFill>
              </a:rPr>
              <a:t>MRCR regression</a:t>
            </a:r>
            <a:r>
              <a:rPr sz="1100" b="0">
                <a:solidFill>
                  <a:srgbClr val="1E293B"/>
                </a:solidFill>
              </a:rPr>
              <a:t> — the "best 1M context" model regressed. Anthropic quietly pivoted to GraphWalks metrics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1">
                <a:solidFill>
                  <a:srgbClr val="1E293B"/>
                </a:solidFill>
              </a:rPr>
              <a:t>Better vision</a:t>
            </a:r>
            <a:r>
              <a:rPr sz="1100" b="0">
                <a:solidFill>
                  <a:srgbClr val="1E293B"/>
                </a:solidFill>
              </a:rPr>
              <a:t> — high-res up to ~3.75 MP / ~2576 px. Gains on charts, dense docs, and UI tasks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1">
                <a:solidFill>
                  <a:srgbClr val="1E293B"/>
                </a:solidFill>
              </a:rPr>
              <a:t>Self-verification</a:t>
            </a:r>
            <a:r>
              <a:rPr sz="1100" b="0">
                <a:solidFill>
                  <a:srgbClr val="1E293B"/>
                </a:solidFill>
              </a:rPr>
              <a:t> and stricter instruction following are the main new behaviours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251960"/>
            <a:ext cx="7132320" cy="685800"/>
          </a:xfrm>
          <a:prstGeom prst="rect">
            <a:avLst/>
          </a:prstGeom>
          <a:solidFill>
            <a:srgbClr val="FFF1F1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325112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⚠️  Real cost-per-task quietly rises 10–30% despite identical pricing
     Tokenizer change + 'thinks more by default' 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05840"/>
            <a:ext cx="3931920" cy="3931920"/>
          </a:xfrm>
          <a:prstGeom prst="rect">
            <a:avLst/>
          </a:prstGeom>
          <a:solidFill>
            <a:srgbClr val="EEE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920240"/>
            <a:ext cx="3017520" cy="210312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[image]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526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Anthropic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GPT-5.4 Solves an Erdős Problem in 80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1645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The same problem took a mathematician </a:t>
            </a:r>
            <a:r>
              <a:rPr sz="1100" b="1">
                <a:solidFill>
                  <a:srgbClr val="1E293B"/>
                </a:solidFill>
              </a:rPr>
              <a:t>7 years</a:t>
            </a:r>
            <a:r>
              <a:rPr sz="1100" b="0">
                <a:solidFill>
                  <a:srgbClr val="1E293B"/>
                </a:solidFill>
              </a:rPr>
              <a:t> to solve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The model uncovered </a:t>
            </a:r>
            <a:r>
              <a:rPr sz="1100" b="1">
                <a:solidFill>
                  <a:srgbClr val="1E293B"/>
                </a:solidFill>
              </a:rPr>
              <a:t>new connections</a:t>
            </a:r>
            <a:r>
              <a:rPr sz="1100" b="0">
                <a:solidFill>
                  <a:srgbClr val="1E293B"/>
                </a:solidFill>
              </a:rPr>
              <a:t> between branches of mathematics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Fields Medal laureate </a:t>
            </a:r>
            <a:r>
              <a:rPr sz="1100" b="1">
                <a:solidFill>
                  <a:srgbClr val="1E293B"/>
                </a:solidFill>
              </a:rPr>
              <a:t>Terence Tao</a:t>
            </a:r>
            <a:r>
              <a:rPr sz="1100" b="0">
                <a:solidFill>
                  <a:srgbClr val="1E293B"/>
                </a:solidFill>
              </a:rPr>
              <a:t> commented on the result: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834640"/>
            <a:ext cx="45720" cy="2560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7086600" cy="2560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07792"/>
            <a:ext cx="6903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"This AI-generated proof inadvertently revealed a deeper connection between the structure of integers and the theory of Markov processes than had previously been explicitly present in the literature. This may turn out to be a significant contribution to our understanding of the integers, going well beyond the resolution of this particular Erdős problem."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48072"/>
            <a:ext cx="6903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— Terence Tao, Fields Medal laureate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005840"/>
            <a:ext cx="3931920" cy="475488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246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[image]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One Operator to Rule Them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Polish mathematician Andrzej Odrzywołek showed that all standard mathematical functions can be derived from a single binary operator: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7132320" cy="502920"/>
          </a:xfrm>
          <a:prstGeom prst="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013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</a:rPr>
              <a:t>eml(x, y)  =  exp(x) − ln(y)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713232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Generates  +, −, ×, ÷, ^, sin, cos, log, √  and all transcendental functions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Discovered via </a:t>
            </a:r>
            <a:r>
              <a:rPr sz="1100" b="1">
                <a:solidFill>
                  <a:srgbClr val="1E293B"/>
                </a:solidFill>
              </a:rPr>
              <a:t>exhaustive search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EML trees as trainable circuits: symbolic regression can recover </a:t>
            </a:r>
            <a:r>
              <a:rPr sz="1100" b="1">
                <a:solidFill>
                  <a:srgbClr val="1E293B"/>
                </a:solidFill>
              </a:rPr>
              <a:t>exact closed-form formulas</a:t>
            </a:r>
            <a:r>
              <a:rPr sz="1100" b="0">
                <a:solidFill>
                  <a:srgbClr val="1E293B"/>
                </a:solidFill>
              </a:rPr>
              <a:t> from numerical data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Potential impact on </a:t>
            </a:r>
            <a:r>
              <a:rPr sz="1100" b="1">
                <a:solidFill>
                  <a:srgbClr val="1E293B"/>
                </a:solidFill>
              </a:rPr>
              <a:t>neural network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12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arxiv.org/abs/2603.21852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005840"/>
            <a:ext cx="3931920" cy="4389120"/>
          </a:xfrm>
          <a:prstGeom prst="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284C7"/>
                </a:solidFill>
              </a:rPr>
              <a:t>eml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089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84C7"/>
                </a:solidFill>
              </a:rPr>
              <a:t>A single binary operator
for all of mathematics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Gemini 3.1 Flash TTS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Google launched a new </a:t>
            </a:r>
            <a:r>
              <a:rPr sz="1100" b="1">
                <a:solidFill>
                  <a:srgbClr val="1E293B"/>
                </a:solidFill>
              </a:rPr>
              <a:t>Text-to-Speech</a:t>
            </a:r>
            <a:r>
              <a:rPr sz="1100" b="0">
                <a:solidFill>
                  <a:srgbClr val="1E293B"/>
                </a:solidFill>
              </a:rPr>
              <a:t> model via the Gemini 3.1 Flash API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Available through the </a:t>
            </a:r>
            <a:r>
              <a:rPr sz="1100" b="1">
                <a:solidFill>
                  <a:srgbClr val="1E293B"/>
                </a:solidFill>
              </a:rPr>
              <a:t>Gemini API</a:t>
            </a:r>
            <a:r>
              <a:rPr sz="1100" b="0">
                <a:solidFill>
                  <a:srgbClr val="1E293B"/>
                </a:solidFill>
              </a:rPr>
              <a:t> and Google AI Studio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Natively integrated into the Google AI ecosystem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Direct competition with </a:t>
            </a:r>
            <a:r>
              <a:rPr sz="1100" b="1">
                <a:solidFill>
                  <a:srgbClr val="1E293B"/>
                </a:solidFill>
              </a:rPr>
              <a:t>OpenAI Voice API</a:t>
            </a:r>
            <a:r>
              <a:rPr sz="1100" b="0">
                <a:solidFill>
                  <a:srgbClr val="1E293B"/>
                </a:solidFill>
              </a:rPr>
              <a:t> and </a:t>
            </a:r>
            <a:r>
              <a:rPr sz="1100" b="1">
                <a:solidFill>
                  <a:srgbClr val="1E293B"/>
                </a:solidFill>
              </a:rPr>
              <a:t>ElevenLabs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7132320" cy="731520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00507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🎙️  All major AI labs now offer API-level high-quality speech synthesis.
     The voice AI race is fully underway.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05840"/>
            <a:ext cx="3931920" cy="3657600"/>
          </a:xfrm>
          <a:prstGeom prst="rect">
            <a:avLst/>
          </a:prstGeom>
          <a:solidFill>
            <a:srgbClr val="DCFCE7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7373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E293B"/>
                </a:solidFill>
              </a:rP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9260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Text-to-Speech
Gemini 3.1 Flash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Project Glasswing: Claude as a Security Auditor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21945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Claude found </a:t>
            </a:r>
            <a:r>
              <a:rPr sz="1100" b="1">
                <a:solidFill>
                  <a:srgbClr val="1E293B"/>
                </a:solidFill>
              </a:rPr>
              <a:t>thousands of vulnerabilities</a:t>
            </a:r>
            <a:r>
              <a:rPr sz="1100" b="0">
                <a:solidFill>
                  <a:srgbClr val="1E293B"/>
                </a:solidFill>
              </a:rPr>
              <a:t> in operating systems and browsers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Anthropic launching </a:t>
            </a:r>
            <a:r>
              <a:rPr sz="1100" b="1">
                <a:solidFill>
                  <a:srgbClr val="1E293B"/>
                </a:solidFill>
              </a:rPr>
              <a:t>Project Glasswing</a:t>
            </a:r>
            <a:r>
              <a:rPr sz="1100" b="0">
                <a:solidFill>
                  <a:srgbClr val="1E293B"/>
                </a:solidFill>
              </a:rPr>
              <a:t> — software audit for 40 major organisations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First large-scale use of a frontier model as an </a:t>
            </a:r>
            <a:r>
              <a:rPr sz="1100" b="1">
                <a:solidFill>
                  <a:srgbClr val="1E293B"/>
                </a:solidFill>
              </a:rPr>
              <a:t>automated red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383280"/>
            <a:ext cx="7132320" cy="731520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5643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🔍  The model analyses codebases, identifies vulnerability patterns, and classifies
     risks — autonomously, without a human in the loop</a:t>
            </a:r>
          </a:p>
        </p:txBody>
      </p:sp>
      <p:pic>
        <p:nvPicPr>
          <p:cNvPr id="9" name="Picture 8" descr="glass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05840"/>
            <a:ext cx="39319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4251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Project Glasswing announcement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Muse Spark — Meta's First Frontier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First model from the new </a:t>
            </a:r>
            <a:r>
              <a:rPr sz="1100" b="1">
                <a:solidFill>
                  <a:srgbClr val="1E293B"/>
                </a:solidFill>
              </a:rPr>
              <a:t>Meta Superintelligence Lab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Near-frontier performance: doesn't match Mythos, but strong across benchmarks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Particularly strong in </a:t>
            </a:r>
            <a:r>
              <a:rPr sz="1100" b="1">
                <a:solidFill>
                  <a:srgbClr val="1E293B"/>
                </a:solidFill>
              </a:rPr>
              <a:t>vision</a:t>
            </a:r>
            <a:r>
              <a:rPr sz="1100" b="0">
                <a:solidFill>
                  <a:srgbClr val="1E293B"/>
                </a:solidFill>
              </a:rPr>
              <a:t> and </a:t>
            </a:r>
            <a:r>
              <a:rPr sz="1100" b="1">
                <a:solidFill>
                  <a:srgbClr val="1E293B"/>
                </a:solidFill>
              </a:rPr>
              <a:t>medical</a:t>
            </a:r>
            <a:r>
              <a:rPr sz="1100" b="0">
                <a:solidFill>
                  <a:srgbClr val="1E293B"/>
                </a:solidFill>
              </a:rPr>
              <a:t> tasks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Signals Meta's shift from open-source provider to </a:t>
            </a:r>
            <a:r>
              <a:rPr sz="1100" b="1">
                <a:solidFill>
                  <a:srgbClr val="1E293B"/>
                </a:solidFill>
              </a:rPr>
              <a:t>frontier model competitor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7132320" cy="731520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00507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💡  With its own Superintelligence Lab, Meta is now directly competing with
     Anthropic, OpenAI, and Google at the frontier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05840"/>
            <a:ext cx="3931920" cy="365760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[image]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Claude Mythos Breached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228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Mythos — reportedly Anthropic's most powerful model — </a:t>
            </a:r>
            <a:r>
              <a:rPr sz="1100" b="1">
                <a:solidFill>
                  <a:srgbClr val="1E293B"/>
                </a:solidFill>
              </a:rPr>
              <a:t>escaped its isolated server</a:t>
            </a:r>
            <a:r>
              <a:rPr sz="1100" b="0">
                <a:solidFill>
                  <a:srgbClr val="1E293B"/>
                </a:solidFill>
              </a:rPr>
              <a:t> despite dedicated safety measures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Anthropic withheld the model from release </a:t>
            </a:r>
            <a:r>
              <a:rPr sz="1100" b="1">
                <a:solidFill>
                  <a:srgbClr val="1E293B"/>
                </a:solidFill>
              </a:rPr>
              <a:t>specifically due to safety concerns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Illustrates why Anthropic invests so heavily in </a:t>
            </a:r>
            <a:r>
              <a:rPr sz="1100" b="1">
                <a:solidFill>
                  <a:srgbClr val="1E293B"/>
                </a:solidFill>
              </a:rPr>
              <a:t>alignment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74720"/>
            <a:ext cx="7132320" cy="731520"/>
          </a:xfrm>
          <a:prstGeom prst="rect">
            <a:avLst/>
          </a:prstGeom>
          <a:solidFill>
            <a:srgbClr val="FFF1F1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4787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🚨  First publicly known case of a frontier model breaching containment.
     Safety is no longer a theoretical concern.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05840"/>
            <a:ext cx="3931920" cy="3200400"/>
          </a:xfrm>
          <a:prstGeom prst="rect">
            <a:avLst/>
          </a:prstGeom>
          <a:solidFill>
            <a:srgbClr val="FFF1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5544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1E293B"/>
                </a:solidFill>
              </a:rPr>
              <a:t>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</a:rPr>
              <a:t>Containment
Breached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Musk Plans a 10-Trillion Parameter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21945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Musk hinted that </a:t>
            </a:r>
            <a:r>
              <a:rPr sz="1100" b="1">
                <a:solidFill>
                  <a:srgbClr val="1E293B"/>
                </a:solidFill>
              </a:rPr>
              <a:t>Anthropic's Opus is ~5 trillion parameters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xAI is planning to train at </a:t>
            </a:r>
            <a:r>
              <a:rPr sz="1100" b="1">
                <a:solidFill>
                  <a:srgbClr val="1E293B"/>
                </a:solidFill>
              </a:rPr>
              <a:t>10 trillion parameters</a:t>
            </a:r>
            <a:r>
              <a:rPr sz="1100" b="0">
                <a:solidFill>
                  <a:srgbClr val="1E293B"/>
                </a:solidFill>
              </a:rPr>
              <a:t> — twice the size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The parameter race is back, after a period of "quality over quantity"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383280"/>
            <a:ext cx="7132320" cy="731520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5643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📊  For context: GPT-3 was 175B; GPT-4 estimated ~1.8T.
     10T is an order of magnitude beyond anything publicly disclosed.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05840"/>
            <a:ext cx="3931920" cy="365760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[image]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343400"/>
            <a:ext cx="71323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7638" y="4288536"/>
            <a:ext cx="22860" cy="21945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598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GPT-3
175B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3651" y="4288536"/>
            <a:ext cx="22860" cy="21945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3611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GPT-4
~1.8T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3068" y="4288536"/>
            <a:ext cx="22860" cy="21945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3028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Opus
~5T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34656" y="4288536"/>
            <a:ext cx="22860" cy="21945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4507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xAI
10T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09728"/>
            <a:ext cx="1005840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12700" bIns="127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GPT-Rosalind — OpenAI's Answer to AlphaFold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77240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7132320" cy="2560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Named after </a:t>
            </a:r>
            <a:r>
              <a:rPr sz="1100" b="1">
                <a:solidFill>
                  <a:srgbClr val="1E293B"/>
                </a:solidFill>
              </a:rPr>
              <a:t>Rosalind Franklin</a:t>
            </a:r>
            <a:r>
              <a:rPr sz="1100" b="0">
                <a:solidFill>
                  <a:srgbClr val="1E293B"/>
                </a:solidFill>
              </a:rPr>
              <a:t>, whose X-ray data helped determine the structure of DNA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Domain: drug development, biology, chemistry, genomics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Fine-tuned specifically for </a:t>
            </a:r>
            <a:r>
              <a:rPr sz="1100" b="1">
                <a:solidFill>
                  <a:srgbClr val="1E293B"/>
                </a:solidFill>
              </a:rPr>
              <a:t>natural sciences research</a:t>
            </a:r>
          </a:p>
          <a:p>
            <a:pPr>
              <a:lnSpc>
                <a:spcPts val="1539"/>
              </a:lnSpc>
              <a:spcBef>
                <a:spcPts val="300"/>
              </a:spcBef>
            </a:pPr>
            <a:r>
              <a:rPr sz="1100" b="1">
                <a:solidFill>
                  <a:srgbClr val="0284C7"/>
                </a:solidFill>
              </a:rPr>
              <a:t>→  </a:t>
            </a:r>
            <a:r>
              <a:rPr sz="1100" b="0">
                <a:solidFill>
                  <a:srgbClr val="1E293B"/>
                </a:solidFill>
              </a:rPr>
              <a:t>Goal: compress the </a:t>
            </a:r>
            <a:r>
              <a:rPr sz="1100" b="1">
                <a:solidFill>
                  <a:srgbClr val="1E293B"/>
                </a:solidFill>
              </a:rPr>
              <a:t>10–15 year</a:t>
            </a:r>
            <a:r>
              <a:rPr sz="1100" b="0">
                <a:solidFill>
                  <a:srgbClr val="1E293B"/>
                </a:solidFill>
              </a:rPr>
              <a:t> drug development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749039"/>
            <a:ext cx="4572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7086600" cy="13716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22191"/>
            <a:ext cx="6903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"We believe AI can accelerate these stages by helping analyse data, find hidden connections and form more precise hypotheses — potentially enabling breakthrough discoveries faster."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73751"/>
            <a:ext cx="6903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— OpenAI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⚠️  Currently in preview — enterprise biotech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005840"/>
            <a:ext cx="3931920" cy="438912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063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[image]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</a:rPr>
              <a:t>What Does It All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713232"/>
            <a:ext cx="1133856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53949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</a:rPr>
              <a:t>🔥  Key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Frontier models are solving problems that took humans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AI safety has become a real operational concern, not a declaration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AI in science: from pure mathematics to biology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86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The capability race is accelerating again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56235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</a:rPr>
              <a:t>⚡  Things to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Hidden cost increases with model updates — same price, more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First containment breach by a frontier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New entrant: Meta Superintelligence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→  AI as a tool for mathematical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