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GRPO Modifications: Confidence &amp; Entropy Bonuses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Goal: Improve GRPO training stability and reward through token/sequence-level modifications</a:t>
            </a:r>
          </a:p>
          <a:p>
            <a:pPr>
              <a:spcAft>
                <a:spcPts val="600"/>
              </a:spcAft>
            </a:pPr>
            <a:r>
              <a:t>Modifications tested:</a:t>
            </a:r>
          </a:p>
          <a:p>
            <a:pPr>
              <a:spcAft>
                <a:spcPts val="600"/>
              </a:spcAft>
            </a:pPr>
            <a:r>
              <a:t>  - GTPO: Token-level entropy-weighted reward shaping</a:t>
            </a:r>
          </a:p>
          <a:p>
            <a:pPr>
              <a:spcAft>
                <a:spcPts val="600"/>
              </a:spcAft>
            </a:pPr>
            <a:r>
              <a:t>  - GRPO-S: Sequence-level entropy-weighted reward shaping</a:t>
            </a:r>
          </a:p>
          <a:p>
            <a:pPr>
              <a:spcAft>
                <a:spcPts val="600"/>
              </a:spcAft>
            </a:pPr>
            <a:r>
              <a:t>  - Confidence-based variants (replacing entropy with confidence score)</a:t>
            </a:r>
          </a:p>
          <a:p>
            <a:pPr>
              <a:spcAft>
                <a:spcPts val="600"/>
              </a:spcAft>
            </a:pPr>
            <a:r>
              <a:t>  - EMA-smoothed confidence variants (exponential moving average of confidence)</a:t>
            </a:r>
          </a:p>
          <a:p>
            <a:pPr>
              <a:spcAft>
                <a:spcPts val="600"/>
              </a:spcAft>
            </a:pPr>
            <a:r>
              <a:t>Models: Llama-3.2-3B-Instruct, Qwen3-4B</a:t>
            </a:r>
          </a:p>
          <a:p>
            <a:pPr>
              <a:spcAft>
                <a:spcPts val="600"/>
              </a:spcAft>
            </a:pPr>
            <a:r>
              <a:t>Datasets: GSM8K (7473 examples), MATH-500 (500 examples)</a:t>
            </a:r>
          </a:p>
          <a:p>
            <a:pPr>
              <a:spcAft>
                <a:spcPts val="600"/>
              </a:spcAft>
            </a:pPr>
            <a:r>
              <a:t>Hardware: NVIDIA A100 80GB PCIe, Unsloth + vLLM, LoRA r=64</a:t>
            </a:r>
          </a:p>
          <a:p>
            <a:pPr>
              <a:spcAft>
                <a:spcPts val="600"/>
              </a:spcAft>
            </a:pPr>
            <a:r>
              <a:t>Training: 500 steps, GRPO with 4 reward functions (max reward: 9.5/10.0)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GRPO Baseline: Standard Group Relative Policy Optimization with LoRA</a:t>
            </a:r>
          </a:p>
          <a:p>
            <a:pPr>
              <a:spcAft>
                <a:spcPts val="600"/>
              </a:spcAft>
            </a:pPr>
            <a:r>
              <a:t>GTPO (Token-level): Entropy-weighted reward at each token position</a:t>
            </a:r>
          </a:p>
          <a:p>
            <a:pPr>
              <a:spcAft>
                <a:spcPts val="600"/>
              </a:spcAft>
            </a:pPr>
            <a:r>
              <a:t>  - Scales advantage by token-level entropy H(i,t)</a:t>
            </a:r>
          </a:p>
          <a:p>
            <a:pPr>
              <a:spcAft>
                <a:spcPts val="600"/>
              </a:spcAft>
            </a:pPr>
            <a:r>
              <a:t>  - From paper: 'GTPO and GRPO-S' (ICML 2026 submission)</a:t>
            </a:r>
          </a:p>
          <a:p>
            <a:pPr>
              <a:spcAft>
                <a:spcPts val="600"/>
              </a:spcAft>
            </a:pPr>
            <a:r>
              <a:t>GRPO-S (Sequence-level): Entropy-weighted reward at sequence level</a:t>
            </a:r>
          </a:p>
          <a:p>
            <a:pPr>
              <a:spcAft>
                <a:spcPts val="600"/>
              </a:spcAft>
            </a:pPr>
            <a:r>
              <a:t>Confidence-based: Replace entropy with confidence score C(i,t)</a:t>
            </a:r>
          </a:p>
          <a:p>
            <a:pPr>
              <a:spcAft>
                <a:spcPts val="600"/>
              </a:spcAft>
            </a:pPr>
            <a:r>
              <a:t>  - C(i,t) = -mean_{v in top-k}(log pi(v|ctx)), k=20</a:t>
            </a:r>
          </a:p>
          <a:p>
            <a:pPr>
              <a:spcAft>
                <a:spcPts val="600"/>
              </a:spcAft>
            </a:pPr>
            <a:r>
              <a:t>  - From 'Deep Think with Confidence' (Meta, arXiv:2508.15260)</a:t>
            </a:r>
          </a:p>
          <a:p>
            <a:pPr>
              <a:spcAft>
                <a:spcPts val="600"/>
              </a:spcAft>
            </a:pPr>
            <a:r>
              <a:t>EMA Confidence: Apply exponential moving average smoothing</a:t>
            </a:r>
          </a:p>
          <a:p>
            <a:pPr>
              <a:spcAft>
                <a:spcPts val="600"/>
              </a:spcAft>
            </a:pPr>
            <a:r>
              <a:t>  - EMA(i,t) = lambda * EMA(i,t-1) + (1-lambda) * C(i,t), lambda=0.9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Progression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t>Phase 1 - Baselines:</a:t>
            </a:r>
          </a:p>
          <a:p>
            <a:pPr>
              <a:spcAft>
                <a:spcPts val="600"/>
              </a:spcAft>
            </a:pPr>
            <a:r>
              <a:t>  exp_001: GRPO baseline on Llama-3.2-3B + GSM8K</a:t>
            </a:r>
          </a:p>
          <a:p>
            <a:pPr>
              <a:spcAft>
                <a:spcPts val="600"/>
              </a:spcAft>
            </a:pPr>
            <a:r>
              <a:t>  exp_003: GRPO baseline on Llama-3.2-3B + MATH-500</a:t>
            </a:r>
          </a:p>
          <a:p>
            <a:pPr>
              <a:spcAft>
                <a:spcPts val="600"/>
              </a:spcAft>
            </a:pPr>
            <a:r>
              <a:t>Phase 2 - Entropy-based (GTPO/GRPO-S):</a:t>
            </a:r>
          </a:p>
          <a:p>
            <a:pPr>
              <a:spcAft>
                <a:spcPts val="600"/>
              </a:spcAft>
            </a:pPr>
            <a:r>
              <a:t>  exp_002: GTPO &amp; GRPO-S on Llama + GSM8K — GTPO failed completely</a:t>
            </a:r>
          </a:p>
          <a:p>
            <a:pPr>
              <a:spcAft>
                <a:spcPts val="600"/>
              </a:spcAft>
            </a:pPr>
            <a:r>
              <a:t>  exp_004: GTPO &amp; GRPO-S on Llama + MATH-500 — both improved over baseline</a:t>
            </a:r>
          </a:p>
          <a:p>
            <a:pPr>
              <a:spcAft>
                <a:spcPts val="600"/>
              </a:spcAft>
            </a:pPr>
            <a:r>
              <a:t>Phase 3 - Confidence-based:</a:t>
            </a:r>
          </a:p>
          <a:p>
            <a:pPr>
              <a:spcAft>
                <a:spcPts val="600"/>
              </a:spcAft>
            </a:pPr>
            <a:r>
              <a:t>  exp_005: Confidence GTPO/GRPO-S on Llama + GSM8K — GTPO-Conf fixed failure</a:t>
            </a:r>
          </a:p>
          <a:p>
            <a:pPr>
              <a:spcAft>
                <a:spcPts val="600"/>
              </a:spcAft>
            </a:pPr>
            <a:r>
              <a:t>Phase 4 - EMA Confidence (best results):</a:t>
            </a:r>
          </a:p>
          <a:p>
            <a:pPr>
              <a:spcAft>
                <a:spcPts val="600"/>
              </a:spcAft>
            </a:pPr>
            <a:r>
              <a:t>  exp_006: EMA Confidence on Llama + GSM8K — matched/exceeded baseline</a:t>
            </a:r>
          </a:p>
          <a:p>
            <a:pPr>
              <a:spcAft>
                <a:spcPts val="600"/>
              </a:spcAft>
            </a:pPr>
            <a:r>
              <a:t>  exp_007-013: EMA variants on Qwen3-4B, MATH-500, various contexts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 001: GRPO Baseline — Llama-3.2-3B on GSM8K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pic>
        <p:nvPicPr>
          <p:cNvPr id="4" name="Picture 3" descr="exp0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77724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 002: GTPO &amp; GRPO-S — Llama on GSM8K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sz="1400"/>
              <a:t>GTPO completely failed: reward collapsed to 0, no format learning</a:t>
            </a:r>
          </a:p>
          <a:p>
            <a:pPr>
              <a:spcAft>
                <a:spcPts val="400"/>
              </a:spcAft>
            </a:pPr>
            <a:r>
              <a:rPr sz="1400"/>
              <a:t>GRPO-S matched baseline (reward=3.0, format=3.0 at step 500)</a:t>
            </a:r>
          </a:p>
          <a:p>
            <a:pPr>
              <a:spcAft>
                <a:spcPts val="400"/>
              </a:spcAft>
            </a:pPr>
            <a:r>
              <a:rPr sz="1400"/>
              <a:t>Entropy thresholds (eps_low=0.2, eps_high=0.28) may be poorly tuned for GSM8K</a:t>
            </a:r>
          </a:p>
          <a:p>
            <a:pPr>
              <a:spcAft>
                <a:spcPts val="400"/>
              </a:spcAft>
            </a:pPr>
            <a:r>
              <a:rPr sz="1400"/>
              <a:t>Key issue: Token-level entropy signal too noisy for stable training</a:t>
            </a:r>
          </a:p>
        </p:txBody>
      </p:sp>
      <p:pic>
        <p:nvPicPr>
          <p:cNvPr id="4" name="Picture 3" descr="exp002_rewar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0"/>
            <a:ext cx="822960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 002: GTPO &amp; GRPO-S Results — GSM8K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/>
              <a:t>GTPO fails completely on GSM8K; GRPO-S matches baseline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Reward@500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Peak Reward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Format@500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KL@500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GRPO (baseline)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8.375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0.085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GTPO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0.028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GRPO-S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0.117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 004: GTPO &amp; GRPO-S — Llama on MATH-500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sz="1400"/>
              <a:t>All methods reach peak reward 10.0</a:t>
            </a:r>
          </a:p>
          <a:p>
            <a:pPr>
              <a:spcAft>
                <a:spcPts val="400"/>
              </a:spcAft>
            </a:pPr>
            <a:r>
              <a:rPr sz="1400"/>
              <a:t>GTPO/GRPO-S retain higher reward at step 500 (2.38 vs 0.62)</a:t>
            </a:r>
          </a:p>
          <a:p>
            <a:pPr>
              <a:spcAft>
                <a:spcPts val="400"/>
              </a:spcAft>
            </a:pPr>
            <a:r>
              <a:rPr sz="1400"/>
              <a:t>KL divergence 10x lower — implicit regularization effect</a:t>
            </a:r>
          </a:p>
          <a:p>
            <a:pPr>
              <a:spcAft>
                <a:spcPts val="400"/>
              </a:spcAft>
            </a:pPr>
            <a:r>
              <a:rPr sz="1400"/>
              <a:t>Entropy shaping prevents reward collapse on small dataset</a:t>
            </a:r>
          </a:p>
        </p:txBody>
      </p:sp>
      <p:pic>
        <p:nvPicPr>
          <p:cNvPr id="4" name="Picture 3" descr="exp004_rewar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0"/>
            <a:ext cx="822960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 004: MATH-500 Results — Entropy Shaping Helps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/>
              <a:t>Entropy-based methods retain 4x higher reward and 10x lower KL at step 500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Reward@500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Peak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Format@500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KL@500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GRPO (baseline)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0.62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10.0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0.75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0.045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GTPO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0.0035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GRPO-S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2.38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10.0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2.25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0.0041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 005: Confidence-Based GTPO/GRPO-S — GSM8K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sz="1400"/>
              <a:t>Replaced entropy H(i,t) with confidence score from 'Deep Think with Confidence'</a:t>
            </a:r>
          </a:p>
          <a:p>
            <a:pPr>
              <a:spcAft>
                <a:spcPts val="400"/>
              </a:spcAft>
            </a:pPr>
            <a:r>
              <a:rPr sz="1400"/>
              <a:t>GTPO-Conf: reward 2.375, peak 9.5 — fixes the GTPO failure from exp_002!</a:t>
            </a:r>
          </a:p>
          <a:p>
            <a:pPr>
              <a:spcAft>
                <a:spcPts val="400"/>
              </a:spcAft>
            </a:pPr>
            <a:r>
              <a:rPr sz="1400"/>
              <a:t>GRPO-S-Conf: collapsed to 0.0 — confidence signal too unstable at sequence level</a:t>
            </a:r>
          </a:p>
          <a:p>
            <a:pPr>
              <a:spcAft>
                <a:spcPts val="400"/>
              </a:spcAft>
            </a:pPr>
            <a:r>
              <a:rPr sz="1400"/>
              <a:t>Confidence is a better signal than entropy for token-level shaping on GSM8K</a:t>
            </a:r>
          </a:p>
        </p:txBody>
      </p:sp>
      <p:pic>
        <p:nvPicPr>
          <p:cNvPr id="4" name="Picture 3" descr="exp005_re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560320"/>
            <a:ext cx="822960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 005: Confidence Results — GSM8K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/>
              <a:t>Confidence fixes token-level GTPO failure (0.0 → 2.375), but sequence-level still unstable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Reward@500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Peak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/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KL@500</a:t>
                      </a:r>
                    </a:p>
                  </a:txBody>
                  <a:tcPr>
                    <a:solidFill>
                      <a:srgbClr val="4285F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GRPO (baseline)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3.0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8.375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0.085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GTPO (entropy)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0.028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GTPO-Conf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2.375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9.5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0.069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GRPO-S-Conf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0.023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 026: proof based GRPO + flipped confidence on GSM-8K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</a:rPr>
              <a:t>setup: GSM8K, Llama-3.2-3B-Instruct, LoRA r=64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bs=1, grad_accum=4, num_generations=4, 500 steps, lr=5e-6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method: pure-proof GTPO-EMA from experiments/proof/GTPO-EMA-full.txt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key idea: we noticed that C = mean log pi over top-k actually grows with peakedness, not with entropy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so we swap the signal roles between O+ and O-. O+ now rewards flat tokens (exploration on correct paths), O- penalizes peaked tokens (confident mistakes)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result: peak reward 9.5 at step 358, final reward 3.0, format_exact 3.0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KL at step 500: 0.095, the lowest among successful confidence methods (exp_005 was 0.069 but GRPO-S-Conf collapsed there)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 026 vs GRPO baseline on GSM-8K</a:t>
            </a:r>
          </a:p>
        </p:txBody>
      </p:sp>
      <p:pic>
        <p:nvPicPr>
          <p:cNvPr id="5" name="Picture 4" descr="exp_026_flipped_vs_gr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8229600" cy="26326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775683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4748B"/>
                </a:solidFill>
              </a:rPr>
              <a:t>flipped pure-proof GTPO-EMA reaches the 9.5 reward ceiling with low KL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 021: GTPO + confidence bonus (no EMA) on Big-Math integer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</a:rPr>
              <a:t>setup: Big-Math-RL-Verified integer subset, Llama-3.2-3B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bs=4, num_generations=16, 1000 steps, lr=5e-6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max_completion_length=3072, bf16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method: confidence based bonus, no EMA smoothing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result: peak reward 9.5 at step 230, stable format by step 200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confidence without EMA is enough on Big-Math as well, not just GSM8K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 021 vs exp 017 baseline on Big-Math</a:t>
            </a:r>
          </a:p>
        </p:txBody>
      </p:sp>
      <p:pic>
        <p:nvPicPr>
          <p:cNvPr id="5" name="Picture 4" descr="exp_021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791" y="1051560"/>
            <a:ext cx="5932417" cy="38176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 022: GTPO with binary O+ / O-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</a:rPr>
              <a:t>setup: same as exp 021 on Big-Math integer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method: binary split by reward_answer_exact &gt;= 0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O+ contains all non-wrong samples including no-format and within-20 percent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O- contains only wrong-answer-in-format (-1.5)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result: peak reward 9.5 at step 202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cleaner signal than z-score advantages, but threshold was too permissive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 022 vs exp 017 baseline on Big-Math</a:t>
            </a:r>
          </a:p>
        </p:txBody>
      </p:sp>
      <p:pic>
        <p:nvPicPr>
          <p:cNvPr id="5" name="Picture 4" descr="exp_022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791" y="1051560"/>
            <a:ext cx="5932417" cy="38176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 023: GTPO-EMA with binary O+ / O-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</a:rPr>
              <a:t>setup: same as exp 022 on Big-Math integer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method: EMA smoothed confidence + binary O+ / O- split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result: peak reward 9.5 at step 215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combines benefits of EMA smoothing with cleaner binary split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 023 vs exp 017 baseline on Big-Math</a:t>
            </a:r>
          </a:p>
        </p:txBody>
      </p:sp>
      <p:pic>
        <p:nvPicPr>
          <p:cNvPr id="5" name="Picture 4" descr="exp_023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791" y="1051560"/>
            <a:ext cx="5932417" cy="38176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 024: byte-identical replay of exp 005 on GSM-8K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</a:rPr>
              <a:t>motivation: check if the exp 005 win over GRPO baseline was real or lucky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setup: GSM8K, Llama-3.2-3B, identical code and seed as exp 005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bs=1, grad_accum=4, num_generations=4, 500 steps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result: the ranking flipped between runs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exp 005: GTPO-Conf won (9.5), GRPO-S-Conf collapsed (2.0)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exp 024: GTPO-Conf collapsed (3.1), GRPO-S-Conf won (9.5)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conclusion: run-to-run variance from vLLM sampling is larger than the method gap at this scale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 024 GTPO-Conf reproduction on GSM-8K</a:t>
            </a:r>
          </a:p>
        </p:txBody>
      </p:sp>
      <p:pic>
        <p:nvPicPr>
          <p:cNvPr id="5" name="Picture 4" descr="exp_024_gtpo_con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8229600" cy="26326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775683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4748B"/>
                </a:solidFill>
              </a:rPr>
              <a:t>same code as exp 005 but collapse happens instead of reaching the ceiling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 024 GRPO-S-Conf reproduction on GSM-8K</a:t>
            </a:r>
          </a:p>
        </p:txBody>
      </p:sp>
      <p:pic>
        <p:nvPicPr>
          <p:cNvPr id="5" name="Picture 4" descr="exp_024_grpos_con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8229600" cy="26326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775683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4748B"/>
                </a:solidFill>
              </a:rPr>
              <a:t>same code as exp 005 but ceiling reached instead of collapse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 025: pure-proof GTPO-EMA on GSM-8K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</a:rPr>
              <a:t>setup: GSM8K, Llama-3.2-3B, same hyperparameters as exp 005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method: implement Def 1.4 of GTPO-EMA-full.txt literally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per-token bonus weighted by EMA(C) over active sequences in O+ at each step t, multiplied by d_t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conservation alpha1+alpha2=1 so total reward mass stays constant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separate z-norm on O+ and O- as in Def 1.5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result: peak 9.5 at step 253, reward 3.0, format_exact 3.0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matches the successful cluster but not yet distinguishable from run-to-run variance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 025 vs GRPO baseline on GSM-8K</a:t>
            </a:r>
          </a:p>
        </p:txBody>
      </p:sp>
      <p:pic>
        <p:nvPicPr>
          <p:cNvPr id="5" name="Picture 4" descr="exp_025_pure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8229600" cy="263268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 027: GRPO baseline on Big-Math integer 2000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</a:rPr>
              <a:t>setup: Big-Math integer filter, 2000 shuffled examples (seed 3407)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Llama-3.2-3B, bs=4, grad_accum=1, num_generations=8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500 steps, max_completion_length=2048, lr=5e-6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result: peak reward 9.5 at step 205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last 50 steps average: reward 5.95, format_exact 2.79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clear S-curve, format learned near step 170, stable high band 4 to 8 after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 027 reward progress on Big-Math integer 2000</a:t>
            </a:r>
          </a:p>
        </p:txBody>
      </p:sp>
      <p:pic>
        <p:nvPicPr>
          <p:cNvPr id="5" name="Picture 4" descr="exp_027_progr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8229600" cy="302987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 028: flipped pure-proof GTPO-EMA on Big-Math integer 2000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</a:rPr>
              <a:t>setup: identical to exp 027 (same 2000 shuffled integer problems, same hyperparameters)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method: flipped pure-proof from exp 026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O+ / O- split by reward_answer_exact &gt;= 1.0 via a reward_cache module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O+ covers exact, strip and within-10 percent matches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O- covers within-20 percent, no-format and wrong answer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result so far: peak 9.5 at step 194, 11 steps earlier than baseline (205)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stable format_exact=3.0 and higher answer_exact than baseline in the running snapshot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exp 028 vs exp 027 on Big-Math integer 2000</a:t>
            </a:r>
          </a:p>
        </p:txBody>
      </p:sp>
      <p:pic>
        <p:nvPicPr>
          <p:cNvPr id="5" name="Picture 4" descr="exp_028_vs_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356" y="1051560"/>
            <a:ext cx="5415288" cy="3543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6863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4748B"/>
                </a:solidFill>
              </a:rPr>
              <a:t>green is exp 028 flipped pure-proof, gray is exp 027 GRPO baseline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</a:rPr>
              <a:t>Summary of new work (exp 021 to 028)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E293B"/>
                </a:solidFill>
              </a:rPr>
              <a:t>exp 026 is the first confidence-based GRPO variant we built directly from the proof, and it works on GSM-8K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the swap of EMA vs 1/EMA between O+ and O- is motivated by a numerical fact about the top-k confidence metric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exp 024 showed that ranking between close confidence-variants is dominated by run-to-run variance on GSM-8K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exp 021 to 023 confirmed the confidence bonus and binary O+ / O- split scale from GSM-8K to Big-Math integer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exp 027 and 028 move to Big-Math integer 2000 as a harder benchmark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early result: exp 028 flipped reaches the reward ceiling 11 steps before the matched GRPO baseline</a:t>
            </a:r>
          </a:p>
          <a:p>
            <a:pPr algn="l"/>
            <a:r>
              <a:rPr sz="1600">
                <a:solidFill>
                  <a:srgbClr val="1E293B"/>
                </a:solidFill>
              </a:rPr>
              <a:t>all code and figures live in github.com/bliskavets/aiim_research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